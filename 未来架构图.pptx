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196"/>
  </p:normalViewPr>
  <p:slideViewPr>
    <p:cSldViewPr snapToGrid="0">
      <p:cViewPr varScale="1">
        <p:scale>
          <a:sx n="96" d="100"/>
          <a:sy n="96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C3189-DAFC-E0E9-48ED-5E627BA35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FE0A53-6039-31C8-B2B7-3E5BFB0E7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A09C1-EB1C-846E-AE09-F630F9A5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4543B-1B6B-8813-BF49-0A9E7CBD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48D9B5-27B7-BAFC-0F06-213E69D4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94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94FCA-DD19-2D0D-2FCF-66FDC545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8B646-BAE9-D0DB-3134-492618661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784408-8BEB-F08A-D425-ADFF13F1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D65C74-1D93-6A0A-6454-C29434B6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C703BA-D96A-1DDF-205C-40E32B738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766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EBD78-66D7-7248-8E7D-E96764EF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7FDEFA-4BBE-EF42-34AA-9200691A4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7DF37F-4D8B-CB07-066B-8B2D5C93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1165E8-2D19-E6CB-E73D-395C9DC3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632367-47B6-82BC-79F0-683ED959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501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6F499-1873-E2D5-35A5-6F042E99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E55656-69D6-1AEC-10D6-95CB07084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4F3FB8-333D-A03E-BCCA-405609F5E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6131E2-CF52-63AE-F085-FA6A88EBD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244B41-6900-91F3-8E3F-596EBF85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513379-5C9C-1595-6F8E-28F99F98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529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98680-896C-F1C4-454D-6D0984F3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9246CB-8013-EFCA-C3AD-D8F052728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68257C-1655-595E-B3E7-7FC6FA174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7D5987-D944-087C-DB6E-870B016CF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51990A-D47E-50CC-FBAF-0D7C41CA0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F717C-A4B7-4933-44CE-82D6992F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BA4CC1-35F4-BE86-AB59-3E967844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1A6E04-4B6B-B04A-5BCB-DC9D417A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14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0079A-ADEA-8D1F-DB5E-2497120A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177E12-F12C-F8C9-2E58-1E09A0C7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CC22A5-931F-C425-5BAD-AD7BC044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A6AB1F-63F2-F358-F16A-7DCA92F4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921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04F511-03D7-4A9B-CC7F-787E25FB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E0396B-4EE4-FDDB-20CA-EC643F62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B595E8-745B-2013-88B4-09915BBF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859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C2357-E046-24C6-D15A-6B89468AC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44CE28-2EBE-0042-C583-5EE25EA43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1D067C-2751-0A87-1194-116555EC8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9088D4-F5A9-9FB2-D5A8-8FB758DF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8F4227-6737-1F23-E1DE-2020264D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306988-08E3-76D0-94AD-456DE9C2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3957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D2C28-F0B6-85CB-65A1-2F9059AE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E6F49D-E3CE-C21A-CF26-060522ED2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6D13A6-A280-F1D4-3EF4-45E331575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FBBE89-96E5-9C26-DA5F-099311B1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D4D66A-7546-9F05-CB5F-03100F0F1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362EC3-3D0A-A106-F795-75A007C6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748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E5EFB-F6F7-E063-37AF-D78BFA8F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77DD51-9DAA-22E9-FE08-E0B5BF7B8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E9DDA-3830-D2B5-274C-0E5EC392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EDE658-333A-B37A-2286-DB806D22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06AA97-4177-C493-F196-6DC6852B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53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D802A5-D988-ACDB-809D-AEFDC7D08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8E6D07-89AE-BE0D-714F-4913C15EE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547BF-C530-E502-0897-F5288F72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8752F-3B75-D03A-1A0D-D95816D2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9D3033-F14D-2B7F-0531-54BA39F5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450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3E9C2E-0FAD-CB79-DBB3-2F5CF422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16033F-F580-CE46-E007-9E73F86A9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14642-8236-E55A-C215-979F53F0D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69116-BE2A-8940-925C-FE86E4338D6F}" type="datetimeFigureOut">
              <a:rPr kumimoji="1" lang="zh-CN" altLang="en-US" smtClean="0"/>
              <a:t>2025/3/6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076461-0AB5-884A-21BE-DD3178DAC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059B5-04CC-F8E3-B1EB-CD1CFB7EE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BE928-7685-E443-A5A9-03321AC53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473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D2AA054-48EA-FFA5-C1AD-F26F7D4098BE}"/>
              </a:ext>
            </a:extLst>
          </p:cNvPr>
          <p:cNvSpPr/>
          <p:nvPr/>
        </p:nvSpPr>
        <p:spPr bwMode="auto">
          <a:xfrm>
            <a:off x="85023" y="545714"/>
            <a:ext cx="638119" cy="37117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数字金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融门户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金服通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740A6E-465A-271C-F27F-2AC90196BEEA}"/>
              </a:ext>
            </a:extLst>
          </p:cNvPr>
          <p:cNvSpPr/>
          <p:nvPr/>
        </p:nvSpPr>
        <p:spPr bwMode="auto">
          <a:xfrm>
            <a:off x="1306240" y="3132801"/>
            <a:ext cx="3500126" cy="5127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客户中心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627DC9-D17C-E8EC-6BC6-367A27916DAF}"/>
              </a:ext>
            </a:extLst>
          </p:cNvPr>
          <p:cNvSpPr/>
          <p:nvPr/>
        </p:nvSpPr>
        <p:spPr bwMode="auto">
          <a:xfrm>
            <a:off x="3846272" y="3373279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客户审核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7B71AF-10A1-0B72-82E5-B710B9135861}"/>
              </a:ext>
            </a:extLst>
          </p:cNvPr>
          <p:cNvSpPr/>
          <p:nvPr/>
        </p:nvSpPr>
        <p:spPr bwMode="auto">
          <a:xfrm>
            <a:off x="909111" y="2972317"/>
            <a:ext cx="7013228" cy="1387378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dist="38099" dir="2700000" algn="ctr" rotWithShape="0">
              <a:srgbClr val="FFFFFF">
                <a:alpha val="50000"/>
              </a:srgbClr>
            </a:outerShdw>
          </a:effectLst>
        </p:spPr>
        <p:txBody>
          <a:bodyPr vert="eaVert" wrap="none" rtlCol="0" anchor="b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Arial" panose="020B0604020202020204"/>
              </a:rPr>
              <a:t>业务中台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8CC01F-4DCE-5D28-F122-10B54C15239C}"/>
              </a:ext>
            </a:extLst>
          </p:cNvPr>
          <p:cNvSpPr/>
          <p:nvPr/>
        </p:nvSpPr>
        <p:spPr bwMode="auto">
          <a:xfrm>
            <a:off x="5668997" y="1803949"/>
            <a:ext cx="3845258" cy="7008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资金管理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7B80FC-244A-919A-952D-DEEE6EFC659E}"/>
              </a:ext>
            </a:extLst>
          </p:cNvPr>
          <p:cNvSpPr/>
          <p:nvPr/>
        </p:nvSpPr>
        <p:spPr bwMode="auto">
          <a:xfrm>
            <a:off x="5731035" y="1999839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账户管理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EF836E-8742-2C33-CF1D-861F40DB79CE}"/>
              </a:ext>
            </a:extLst>
          </p:cNvPr>
          <p:cNvSpPr/>
          <p:nvPr/>
        </p:nvSpPr>
        <p:spPr bwMode="auto">
          <a:xfrm>
            <a:off x="5731035" y="2257712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投资管理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20B648-49F2-F459-3BD3-A37F1A8A6105}"/>
              </a:ext>
            </a:extLst>
          </p:cNvPr>
          <p:cNvSpPr/>
          <p:nvPr/>
        </p:nvSpPr>
        <p:spPr bwMode="auto">
          <a:xfrm>
            <a:off x="7566553" y="1999839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资金归集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7E9BD5-F4EB-E5F8-D461-D297EB4D2FB4}"/>
              </a:ext>
            </a:extLst>
          </p:cNvPr>
          <p:cNvSpPr/>
          <p:nvPr/>
        </p:nvSpPr>
        <p:spPr bwMode="auto">
          <a:xfrm>
            <a:off x="6702878" y="1999839"/>
            <a:ext cx="75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资金计划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49B460-4DBE-ABA1-79D5-15772A7278E6}"/>
              </a:ext>
            </a:extLst>
          </p:cNvPr>
          <p:cNvSpPr/>
          <p:nvPr/>
        </p:nvSpPr>
        <p:spPr bwMode="auto">
          <a:xfrm>
            <a:off x="6703552" y="2257712"/>
            <a:ext cx="75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票据管理</a:t>
            </a:r>
          </a:p>
        </p:txBody>
      </p:sp>
      <p:sp>
        <p:nvSpPr>
          <p:cNvPr id="14" name="矩形 51">
            <a:extLst>
              <a:ext uri="{FF2B5EF4-FFF2-40B4-BE49-F238E27FC236}">
                <a16:creationId xmlns:a16="http://schemas.microsoft.com/office/drawing/2014/main" id="{64574E5F-E546-FA8D-4EF3-739C325CE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553" y="2257712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资金结算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C443F6-7403-0F1D-34DB-6A42B9BBC8FD}"/>
              </a:ext>
            </a:extLst>
          </p:cNvPr>
          <p:cNvSpPr/>
          <p:nvPr/>
        </p:nvSpPr>
        <p:spPr bwMode="auto">
          <a:xfrm>
            <a:off x="5656048" y="412870"/>
            <a:ext cx="1205729" cy="1270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预算管理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4AD8FE-B4FC-BA29-040C-E86D92539232}"/>
              </a:ext>
            </a:extLst>
          </p:cNvPr>
          <p:cNvSpPr/>
          <p:nvPr/>
        </p:nvSpPr>
        <p:spPr bwMode="auto">
          <a:xfrm>
            <a:off x="5700912" y="694238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预算体系设置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6C59A3-4F7C-8FEA-419F-481337EAF136}"/>
              </a:ext>
            </a:extLst>
          </p:cNvPr>
          <p:cNvSpPr/>
          <p:nvPr/>
        </p:nvSpPr>
        <p:spPr bwMode="auto">
          <a:xfrm>
            <a:off x="5700912" y="1186982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预算编制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780674-2D30-5F2E-C1CB-774699D50EDC}"/>
              </a:ext>
            </a:extLst>
          </p:cNvPr>
          <p:cNvSpPr/>
          <p:nvPr/>
        </p:nvSpPr>
        <p:spPr bwMode="auto">
          <a:xfrm>
            <a:off x="5700912" y="940610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预算任务下达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DB849A-CEFE-E266-4FF8-F8862580EDCA}"/>
              </a:ext>
            </a:extLst>
          </p:cNvPr>
          <p:cNvSpPr/>
          <p:nvPr/>
        </p:nvSpPr>
        <p:spPr bwMode="auto">
          <a:xfrm>
            <a:off x="5700912" y="1433354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预算控制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102F70-2005-D77D-CC63-D11312D58FC5}"/>
              </a:ext>
            </a:extLst>
          </p:cNvPr>
          <p:cNvSpPr/>
          <p:nvPr/>
        </p:nvSpPr>
        <p:spPr bwMode="auto">
          <a:xfrm>
            <a:off x="9906361" y="2437712"/>
            <a:ext cx="2125711" cy="1355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vert="horz"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数据集散中心</a:t>
            </a:r>
          </a:p>
        </p:txBody>
      </p:sp>
      <p:sp>
        <p:nvSpPr>
          <p:cNvPr id="21" name="流程图: 磁盘 320">
            <a:extLst>
              <a:ext uri="{FF2B5EF4-FFF2-40B4-BE49-F238E27FC236}">
                <a16:creationId xmlns:a16="http://schemas.microsoft.com/office/drawing/2014/main" id="{C0A25A33-6938-D72A-54E3-618DB3E0D43A}"/>
              </a:ext>
            </a:extLst>
          </p:cNvPr>
          <p:cNvSpPr/>
          <p:nvPr/>
        </p:nvSpPr>
        <p:spPr bwMode="auto">
          <a:xfrm>
            <a:off x="10843442" y="3273326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客户数据</a:t>
            </a:r>
          </a:p>
        </p:txBody>
      </p:sp>
      <p:sp>
        <p:nvSpPr>
          <p:cNvPr id="22" name="流程图: 磁盘 321">
            <a:extLst>
              <a:ext uri="{FF2B5EF4-FFF2-40B4-BE49-F238E27FC236}">
                <a16:creationId xmlns:a16="http://schemas.microsoft.com/office/drawing/2014/main" id="{14E8C60D-B09E-51D9-5CCB-39B57FD0CDF8}"/>
              </a:ext>
            </a:extLst>
          </p:cNvPr>
          <p:cNvSpPr/>
          <p:nvPr/>
        </p:nvSpPr>
        <p:spPr bwMode="auto">
          <a:xfrm>
            <a:off x="10875148" y="3513294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7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借据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</a:t>
            </a:r>
          </a:p>
        </p:txBody>
      </p:sp>
      <p:sp>
        <p:nvSpPr>
          <p:cNvPr id="25" name="流程图: 磁盘 324">
            <a:extLst>
              <a:ext uri="{FF2B5EF4-FFF2-40B4-BE49-F238E27FC236}">
                <a16:creationId xmlns:a16="http://schemas.microsoft.com/office/drawing/2014/main" id="{F0C63264-921E-7DE4-9154-81C15133262F}"/>
              </a:ext>
            </a:extLst>
          </p:cNvPr>
          <p:cNvSpPr/>
          <p:nvPr/>
        </p:nvSpPr>
        <p:spPr bwMode="auto">
          <a:xfrm>
            <a:off x="11456053" y="3273326"/>
            <a:ext cx="477206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7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授信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</a:t>
            </a:r>
          </a:p>
        </p:txBody>
      </p:sp>
      <p:sp>
        <p:nvSpPr>
          <p:cNvPr id="26" name="流程图: 磁盘 325">
            <a:extLst>
              <a:ext uri="{FF2B5EF4-FFF2-40B4-BE49-F238E27FC236}">
                <a16:creationId xmlns:a16="http://schemas.microsoft.com/office/drawing/2014/main" id="{ECFA35F8-07B7-542E-F0E5-AE7EED97EEA9}"/>
              </a:ext>
            </a:extLst>
          </p:cNvPr>
          <p:cNvSpPr/>
          <p:nvPr/>
        </p:nvSpPr>
        <p:spPr bwMode="auto">
          <a:xfrm>
            <a:off x="11456053" y="3495944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……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153FC3A-33FF-E158-EC4E-E8D01CCBE9C3}"/>
              </a:ext>
            </a:extLst>
          </p:cNvPr>
          <p:cNvSpPr/>
          <p:nvPr/>
        </p:nvSpPr>
        <p:spPr bwMode="auto">
          <a:xfrm>
            <a:off x="10791258" y="3899916"/>
            <a:ext cx="1263555" cy="15404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电子档案</a:t>
            </a:r>
          </a:p>
        </p:txBody>
      </p:sp>
      <p:sp>
        <p:nvSpPr>
          <p:cNvPr id="28" name="流程图: 磁盘 327">
            <a:extLst>
              <a:ext uri="{FF2B5EF4-FFF2-40B4-BE49-F238E27FC236}">
                <a16:creationId xmlns:a16="http://schemas.microsoft.com/office/drawing/2014/main" id="{C6B84D97-DDA1-93EB-B864-B78A41AFF002}"/>
              </a:ext>
            </a:extLst>
          </p:cNvPr>
          <p:cNvSpPr/>
          <p:nvPr/>
        </p:nvSpPr>
        <p:spPr bwMode="auto">
          <a:xfrm>
            <a:off x="10866236" y="4866824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合同信息</a:t>
            </a:r>
          </a:p>
        </p:txBody>
      </p:sp>
      <p:sp>
        <p:nvSpPr>
          <p:cNvPr id="29" name="流程图: 磁盘 328">
            <a:extLst>
              <a:ext uri="{FF2B5EF4-FFF2-40B4-BE49-F238E27FC236}">
                <a16:creationId xmlns:a16="http://schemas.microsoft.com/office/drawing/2014/main" id="{9F160CA7-5C44-980D-3E9D-FDCA24453418}"/>
              </a:ext>
            </a:extLst>
          </p:cNvPr>
          <p:cNvSpPr/>
          <p:nvPr/>
        </p:nvSpPr>
        <p:spPr bwMode="auto">
          <a:xfrm>
            <a:off x="10866236" y="5148764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凭证信息</a:t>
            </a:r>
          </a:p>
        </p:txBody>
      </p:sp>
      <p:sp>
        <p:nvSpPr>
          <p:cNvPr id="30" name="流程图: 磁盘 329">
            <a:extLst>
              <a:ext uri="{FF2B5EF4-FFF2-40B4-BE49-F238E27FC236}">
                <a16:creationId xmlns:a16="http://schemas.microsoft.com/office/drawing/2014/main" id="{F3945F56-8051-77BC-902B-089D75367996}"/>
              </a:ext>
            </a:extLst>
          </p:cNvPr>
          <p:cNvSpPr/>
          <p:nvPr/>
        </p:nvSpPr>
        <p:spPr bwMode="auto">
          <a:xfrm>
            <a:off x="11478847" y="4866824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文档信息</a:t>
            </a:r>
          </a:p>
        </p:txBody>
      </p:sp>
      <p:sp>
        <p:nvSpPr>
          <p:cNvPr id="31" name="流程图: 磁盘 330">
            <a:extLst>
              <a:ext uri="{FF2B5EF4-FFF2-40B4-BE49-F238E27FC236}">
                <a16:creationId xmlns:a16="http://schemas.microsoft.com/office/drawing/2014/main" id="{B83CCC5A-19F3-DAD9-BD01-972D073F95AC}"/>
              </a:ext>
            </a:extLst>
          </p:cNvPr>
          <p:cNvSpPr/>
          <p:nvPr/>
        </p:nvSpPr>
        <p:spPr bwMode="auto">
          <a:xfrm>
            <a:off x="11478847" y="5148764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……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A979ADE-9D97-6492-1598-024EAE4A255B}"/>
              </a:ext>
            </a:extLst>
          </p:cNvPr>
          <p:cNvSpPr/>
          <p:nvPr/>
        </p:nvSpPr>
        <p:spPr bwMode="auto">
          <a:xfrm>
            <a:off x="11113820" y="4107214"/>
            <a:ext cx="84237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noProof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归档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管理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84C86B4-07D2-C451-4447-95714414441B}"/>
              </a:ext>
            </a:extLst>
          </p:cNvPr>
          <p:cNvSpPr/>
          <p:nvPr/>
        </p:nvSpPr>
        <p:spPr bwMode="auto">
          <a:xfrm>
            <a:off x="10821815" y="4107214"/>
            <a:ext cx="179837" cy="70129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档案利用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CF455F-7C57-C303-2539-6FB3BB1B8072}"/>
              </a:ext>
            </a:extLst>
          </p:cNvPr>
          <p:cNvSpPr/>
          <p:nvPr/>
        </p:nvSpPr>
        <p:spPr bwMode="auto">
          <a:xfrm>
            <a:off x="11113820" y="4628504"/>
            <a:ext cx="842370" cy="162671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影像管理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9F225A3-23B9-DD63-C136-C45823FAAF48}"/>
              </a:ext>
            </a:extLst>
          </p:cNvPr>
          <p:cNvSpPr/>
          <p:nvPr/>
        </p:nvSpPr>
        <p:spPr bwMode="auto">
          <a:xfrm>
            <a:off x="11113820" y="4367859"/>
            <a:ext cx="84237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文档管理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1FD1277-A6C5-C5CA-A32C-4F528C638199}"/>
              </a:ext>
            </a:extLst>
          </p:cNvPr>
          <p:cNvSpPr/>
          <p:nvPr/>
        </p:nvSpPr>
        <p:spPr bwMode="auto">
          <a:xfrm>
            <a:off x="9906361" y="3899916"/>
            <a:ext cx="786212" cy="15404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数字决策辅助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57A119-C273-074A-B9C2-4259845B0BB6}"/>
              </a:ext>
            </a:extLst>
          </p:cNvPr>
          <p:cNvSpPr/>
          <p:nvPr/>
        </p:nvSpPr>
        <p:spPr bwMode="auto">
          <a:xfrm>
            <a:off x="9990598" y="4226438"/>
            <a:ext cx="61773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客户视图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72A6DC0-C83C-E7FB-1AAE-50AF93671054}"/>
              </a:ext>
            </a:extLst>
          </p:cNvPr>
          <p:cNvSpPr/>
          <p:nvPr/>
        </p:nvSpPr>
        <p:spPr bwMode="auto">
          <a:xfrm>
            <a:off x="9990598" y="5148458"/>
            <a:ext cx="61773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风险视图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5DF8EE6-4219-A673-4AD0-331649C01296}"/>
              </a:ext>
            </a:extLst>
          </p:cNvPr>
          <p:cNvSpPr/>
          <p:nvPr/>
        </p:nvSpPr>
        <p:spPr bwMode="auto">
          <a:xfrm>
            <a:off x="9990598" y="4687448"/>
            <a:ext cx="61773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资产视图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666136B-C544-9245-74B4-62B040839FAB}"/>
              </a:ext>
            </a:extLst>
          </p:cNvPr>
          <p:cNvSpPr/>
          <p:nvPr/>
        </p:nvSpPr>
        <p:spPr bwMode="auto">
          <a:xfrm>
            <a:off x="9990598" y="4456943"/>
            <a:ext cx="61773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资金视图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408109E-DB76-B3FA-C20D-F2B0380F4EDC}"/>
              </a:ext>
            </a:extLst>
          </p:cNvPr>
          <p:cNvSpPr/>
          <p:nvPr/>
        </p:nvSpPr>
        <p:spPr bwMode="auto">
          <a:xfrm>
            <a:off x="9990598" y="4917953"/>
            <a:ext cx="61773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财务视图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AEB1ED8-1FFF-6FB5-62D0-7A3E8A0B0173}"/>
              </a:ext>
            </a:extLst>
          </p:cNvPr>
          <p:cNvSpPr/>
          <p:nvPr/>
        </p:nvSpPr>
        <p:spPr bwMode="auto">
          <a:xfrm>
            <a:off x="9814726" y="2144111"/>
            <a:ext cx="2286193" cy="3355271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dist="38099" dir="2700000" algn="ctr" rotWithShape="0">
              <a:srgbClr val="FFFF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Arial" panose="020B0604020202020204"/>
              </a:rPr>
              <a:t>数据中台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F42B467-8CA3-B04C-7B6A-491AC8A7401B}"/>
              </a:ext>
            </a:extLst>
          </p:cNvPr>
          <p:cNvSpPr/>
          <p:nvPr/>
        </p:nvSpPr>
        <p:spPr bwMode="auto">
          <a:xfrm>
            <a:off x="3023812" y="3373279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客户服务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AC08530-F661-760E-38BE-E194DD40BB24}"/>
              </a:ext>
            </a:extLst>
          </p:cNvPr>
          <p:cNvSpPr/>
          <p:nvPr/>
        </p:nvSpPr>
        <p:spPr bwMode="auto">
          <a:xfrm>
            <a:off x="2191372" y="3373279"/>
            <a:ext cx="738400" cy="19044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关联方管理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23F76C0-AF7A-18AB-AA30-30C077973F3D}"/>
              </a:ext>
            </a:extLst>
          </p:cNvPr>
          <p:cNvSpPr/>
          <p:nvPr/>
        </p:nvSpPr>
        <p:spPr bwMode="auto">
          <a:xfrm>
            <a:off x="1358932" y="3373279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客户管理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992663E-A4A7-EF33-1BCB-FC47AACBD9A2}"/>
              </a:ext>
            </a:extLst>
          </p:cNvPr>
          <p:cNvSpPr/>
          <p:nvPr/>
        </p:nvSpPr>
        <p:spPr bwMode="auto">
          <a:xfrm>
            <a:off x="8530280" y="2002119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内部金融</a:t>
            </a:r>
          </a:p>
        </p:txBody>
      </p:sp>
      <p:sp>
        <p:nvSpPr>
          <p:cNvPr id="56" name="矩形 51">
            <a:extLst>
              <a:ext uri="{FF2B5EF4-FFF2-40B4-BE49-F238E27FC236}">
                <a16:creationId xmlns:a16="http://schemas.microsoft.com/office/drawing/2014/main" id="{3B93B586-6E72-D39C-BF00-654287417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322" y="2246601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融资管理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650E8F4-7690-8C77-011F-2F3C178A6750}"/>
              </a:ext>
            </a:extLst>
          </p:cNvPr>
          <p:cNvSpPr/>
          <p:nvPr/>
        </p:nvSpPr>
        <p:spPr bwMode="auto">
          <a:xfrm>
            <a:off x="5681281" y="2548908"/>
            <a:ext cx="3845258" cy="241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全流程资金监控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8DC77EE-4ECB-48D9-1F95-783718D49EB7}"/>
              </a:ext>
            </a:extLst>
          </p:cNvPr>
          <p:cNvSpPr/>
          <p:nvPr/>
        </p:nvSpPr>
        <p:spPr bwMode="auto">
          <a:xfrm>
            <a:off x="6976026" y="398584"/>
            <a:ext cx="1205729" cy="1270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费用管控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2D09E92-767D-6391-8767-917734643C0E}"/>
              </a:ext>
            </a:extLst>
          </p:cNvPr>
          <p:cNvSpPr/>
          <p:nvPr/>
        </p:nvSpPr>
        <p:spPr bwMode="auto">
          <a:xfrm>
            <a:off x="7020890" y="679952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费用控制规则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CC609F5-07E4-B599-559A-046D52F0B88F}"/>
              </a:ext>
            </a:extLst>
          </p:cNvPr>
          <p:cNvSpPr/>
          <p:nvPr/>
        </p:nvSpPr>
        <p:spPr bwMode="auto">
          <a:xfrm>
            <a:off x="7020890" y="1172696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费用报销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6DEFADC-A7AC-039B-B6FD-2ECC0A82BEBE}"/>
              </a:ext>
            </a:extLst>
          </p:cNvPr>
          <p:cNvSpPr/>
          <p:nvPr/>
        </p:nvSpPr>
        <p:spPr bwMode="auto">
          <a:xfrm>
            <a:off x="7020890" y="926324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费用申请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507EAC8-F853-43A3-A263-895C31C36A95}"/>
              </a:ext>
            </a:extLst>
          </p:cNvPr>
          <p:cNvSpPr/>
          <p:nvPr/>
        </p:nvSpPr>
        <p:spPr bwMode="auto">
          <a:xfrm>
            <a:off x="7020890" y="1419068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费用控制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070E28F-1838-AF81-E2C7-0A7A26185F72}"/>
              </a:ext>
            </a:extLst>
          </p:cNvPr>
          <p:cNvSpPr/>
          <p:nvPr/>
        </p:nvSpPr>
        <p:spPr bwMode="auto">
          <a:xfrm>
            <a:off x="4374781" y="1810361"/>
            <a:ext cx="1205729" cy="9683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税务管理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9197C22-41F7-A806-9D88-0A805AA2BABF}"/>
              </a:ext>
            </a:extLst>
          </p:cNvPr>
          <p:cNvSpPr/>
          <p:nvPr/>
        </p:nvSpPr>
        <p:spPr bwMode="auto">
          <a:xfrm>
            <a:off x="4436819" y="2032909"/>
            <a:ext cx="1098826" cy="193223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进项发票管理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3CA6044-E370-D11E-9071-8DB59C4923FB}"/>
              </a:ext>
            </a:extLst>
          </p:cNvPr>
          <p:cNvSpPr/>
          <p:nvPr/>
        </p:nvSpPr>
        <p:spPr bwMode="auto">
          <a:xfrm>
            <a:off x="4457547" y="2544632"/>
            <a:ext cx="1078098" cy="19174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纳税申报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C3F64CE-591E-F540-EC93-F9D3BCBA1B86}"/>
              </a:ext>
            </a:extLst>
          </p:cNvPr>
          <p:cNvSpPr/>
          <p:nvPr/>
        </p:nvSpPr>
        <p:spPr bwMode="auto">
          <a:xfrm>
            <a:off x="4457547" y="2288416"/>
            <a:ext cx="1078098" cy="19174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销项发票管理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A247222-BFF1-348E-61B4-19F65D3C27F3}"/>
              </a:ext>
            </a:extLst>
          </p:cNvPr>
          <p:cNvSpPr/>
          <p:nvPr/>
        </p:nvSpPr>
        <p:spPr bwMode="auto">
          <a:xfrm>
            <a:off x="4373859" y="424130"/>
            <a:ext cx="1205729" cy="12703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业财一体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0EB4419-5FB8-77A1-47B4-6E2C7E7EDCC3}"/>
              </a:ext>
            </a:extLst>
          </p:cNvPr>
          <p:cNvSpPr/>
          <p:nvPr/>
        </p:nvSpPr>
        <p:spPr bwMode="auto">
          <a:xfrm>
            <a:off x="4418723" y="705498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收入管理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C38D861-D59D-2FA4-7275-D9D9AD21B7A5}"/>
              </a:ext>
            </a:extLst>
          </p:cNvPr>
          <p:cNvSpPr/>
          <p:nvPr/>
        </p:nvSpPr>
        <p:spPr bwMode="auto">
          <a:xfrm>
            <a:off x="4418723" y="1198242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应付管理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CA3B673-B3ED-D637-3672-28130EE77B8F}"/>
              </a:ext>
            </a:extLst>
          </p:cNvPr>
          <p:cNvSpPr/>
          <p:nvPr/>
        </p:nvSpPr>
        <p:spPr bwMode="auto">
          <a:xfrm>
            <a:off x="4418723" y="951870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应收管理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B8F81AE-CC2F-55E9-515B-E2CFC29B4D25}"/>
              </a:ext>
            </a:extLst>
          </p:cNvPr>
          <p:cNvSpPr/>
          <p:nvPr/>
        </p:nvSpPr>
        <p:spPr bwMode="auto">
          <a:xfrm>
            <a:off x="4418723" y="1444614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凭证转化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6CA04B5-4617-BA8A-5547-594E96E643DC}"/>
              </a:ext>
            </a:extLst>
          </p:cNvPr>
          <p:cNvSpPr/>
          <p:nvPr/>
        </p:nvSpPr>
        <p:spPr bwMode="auto">
          <a:xfrm>
            <a:off x="8326059" y="397945"/>
            <a:ext cx="1205729" cy="1270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财务核算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24BB794-F3D2-E4CD-BACA-1D951771AEF4}"/>
              </a:ext>
            </a:extLst>
          </p:cNvPr>
          <p:cNvSpPr/>
          <p:nvPr/>
        </p:nvSpPr>
        <p:spPr bwMode="auto">
          <a:xfrm>
            <a:off x="8370923" y="679313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总账核算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87AD12-5A3C-9573-8F45-16F8D54580B5}"/>
              </a:ext>
            </a:extLst>
          </p:cNvPr>
          <p:cNvSpPr/>
          <p:nvPr/>
        </p:nvSpPr>
        <p:spPr bwMode="auto">
          <a:xfrm>
            <a:off x="8370923" y="1172057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固定资产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9047C94-E59A-43F2-5D70-B0D789B41CAB}"/>
              </a:ext>
            </a:extLst>
          </p:cNvPr>
          <p:cNvSpPr/>
          <p:nvPr/>
        </p:nvSpPr>
        <p:spPr bwMode="auto">
          <a:xfrm>
            <a:off x="8370923" y="925685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出纳管理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656A12C-436C-CBA8-0443-EF4E7DD15179}"/>
              </a:ext>
            </a:extLst>
          </p:cNvPr>
          <p:cNvSpPr/>
          <p:nvPr/>
        </p:nvSpPr>
        <p:spPr bwMode="auto">
          <a:xfrm>
            <a:off x="8370923" y="1418429"/>
            <a:ext cx="1116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合并报表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CAFE2D2-44F1-1068-C84B-ED8F9772FF34}"/>
              </a:ext>
            </a:extLst>
          </p:cNvPr>
          <p:cNvSpPr/>
          <p:nvPr/>
        </p:nvSpPr>
        <p:spPr bwMode="auto">
          <a:xfrm>
            <a:off x="1293280" y="397267"/>
            <a:ext cx="2551268" cy="11383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租赁业务管理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4D14BA8-D7BE-174A-33D8-48013D1A0168}"/>
              </a:ext>
            </a:extLst>
          </p:cNvPr>
          <p:cNvSpPr/>
          <p:nvPr/>
        </p:nvSpPr>
        <p:spPr bwMode="auto">
          <a:xfrm>
            <a:off x="1285686" y="1691539"/>
            <a:ext cx="2551268" cy="2864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全流程风险管控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0DFC7AD-1E2C-1065-C4AF-DAFEAC0216EE}"/>
              </a:ext>
            </a:extLst>
          </p:cNvPr>
          <p:cNvSpPr/>
          <p:nvPr/>
        </p:nvSpPr>
        <p:spPr bwMode="auto">
          <a:xfrm>
            <a:off x="915051" y="302071"/>
            <a:ext cx="3080489" cy="2550129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dist="38099" dir="2700000" algn="ctr" rotWithShape="0">
              <a:srgbClr val="FFFF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Arial" panose="020B0604020202020204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5ECD032-C147-7CEB-1219-CD92C9AB728A}"/>
              </a:ext>
            </a:extLst>
          </p:cNvPr>
          <p:cNvSpPr/>
          <p:nvPr/>
        </p:nvSpPr>
        <p:spPr bwMode="auto">
          <a:xfrm>
            <a:off x="4948978" y="3754737"/>
            <a:ext cx="2802811" cy="5027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事务中心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2555504-3BA8-BD23-6BCA-5A5FC4DC7FBC}"/>
              </a:ext>
            </a:extLst>
          </p:cNvPr>
          <p:cNvSpPr/>
          <p:nvPr/>
        </p:nvSpPr>
        <p:spPr bwMode="auto">
          <a:xfrm>
            <a:off x="4985349" y="3987864"/>
            <a:ext cx="90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工作流管理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EBBECB3-B140-66A9-ED4C-AA235F035C48}"/>
              </a:ext>
            </a:extLst>
          </p:cNvPr>
          <p:cNvSpPr/>
          <p:nvPr/>
        </p:nvSpPr>
        <p:spPr bwMode="auto">
          <a:xfrm>
            <a:off x="5994203" y="3989371"/>
            <a:ext cx="801834" cy="175385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消息管理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E292429-4825-54CE-D9F6-6A6D4D301136}"/>
              </a:ext>
            </a:extLst>
          </p:cNvPr>
          <p:cNvSpPr/>
          <p:nvPr/>
        </p:nvSpPr>
        <p:spPr bwMode="auto">
          <a:xfrm>
            <a:off x="4948978" y="3129229"/>
            <a:ext cx="1532912" cy="5277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风控中心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47886AC-CF3A-2A6A-A869-16712C4ECD1F}"/>
              </a:ext>
            </a:extLst>
          </p:cNvPr>
          <p:cNvSpPr/>
          <p:nvPr/>
        </p:nvSpPr>
        <p:spPr bwMode="auto">
          <a:xfrm>
            <a:off x="5005835" y="3380895"/>
            <a:ext cx="632967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风控引擎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032A1CB-3C5C-B59A-8E84-2575179E98F5}"/>
              </a:ext>
            </a:extLst>
          </p:cNvPr>
          <p:cNvSpPr/>
          <p:nvPr/>
        </p:nvSpPr>
        <p:spPr bwMode="auto">
          <a:xfrm>
            <a:off x="5725439" y="3382143"/>
            <a:ext cx="63497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预警管理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5DF183D-BF62-CD05-015B-45029DCCA3B9}"/>
              </a:ext>
            </a:extLst>
          </p:cNvPr>
          <p:cNvSpPr/>
          <p:nvPr/>
        </p:nvSpPr>
        <p:spPr bwMode="auto">
          <a:xfrm>
            <a:off x="6910967" y="3989513"/>
            <a:ext cx="726052" cy="178351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工具管理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69D5EB7-AA41-D7F7-F9B7-A9B736107ACB}"/>
              </a:ext>
            </a:extLst>
          </p:cNvPr>
          <p:cNvSpPr/>
          <p:nvPr/>
        </p:nvSpPr>
        <p:spPr bwMode="auto">
          <a:xfrm>
            <a:off x="432923" y="4582306"/>
            <a:ext cx="4190084" cy="8342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日常办公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7C7560D-AB61-921F-23B0-889F78BE4CA5}"/>
              </a:ext>
            </a:extLst>
          </p:cNvPr>
          <p:cNvSpPr/>
          <p:nvPr/>
        </p:nvSpPr>
        <p:spPr bwMode="auto">
          <a:xfrm>
            <a:off x="2972955" y="4907250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文件传阅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09FBC06-2AF0-6EF4-8ACE-80F0798CF2E1}"/>
              </a:ext>
            </a:extLst>
          </p:cNvPr>
          <p:cNvSpPr/>
          <p:nvPr/>
        </p:nvSpPr>
        <p:spPr bwMode="auto">
          <a:xfrm>
            <a:off x="2974424" y="5168514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知识管理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0064C07-33A2-B27D-BA82-4C6D56FF075C}"/>
              </a:ext>
            </a:extLst>
          </p:cNvPr>
          <p:cNvSpPr/>
          <p:nvPr/>
        </p:nvSpPr>
        <p:spPr bwMode="auto">
          <a:xfrm>
            <a:off x="3905925" y="4907250"/>
            <a:ext cx="68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内部协同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0063724-EB69-C054-35FD-CDCE941A47D6}"/>
              </a:ext>
            </a:extLst>
          </p:cNvPr>
          <p:cNvSpPr/>
          <p:nvPr/>
        </p:nvSpPr>
        <p:spPr bwMode="auto">
          <a:xfrm>
            <a:off x="3906533" y="5168514"/>
            <a:ext cx="68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移动办公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0AC1510-4CC6-22F2-A4C7-C312A8DD1530}"/>
              </a:ext>
            </a:extLst>
          </p:cNvPr>
          <p:cNvSpPr/>
          <p:nvPr/>
        </p:nvSpPr>
        <p:spPr bwMode="auto">
          <a:xfrm>
            <a:off x="4735175" y="4579620"/>
            <a:ext cx="2520000" cy="837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人力资源管理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F673A4A-743B-E7A4-EF59-863B2AD45892}"/>
              </a:ext>
            </a:extLst>
          </p:cNvPr>
          <p:cNvSpPr/>
          <p:nvPr/>
        </p:nvSpPr>
        <p:spPr bwMode="auto">
          <a:xfrm>
            <a:off x="4793915" y="4907380"/>
            <a:ext cx="68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组织管理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63E08C4A-00B6-1A0B-B7AD-D620EB428C15}"/>
              </a:ext>
            </a:extLst>
          </p:cNvPr>
          <p:cNvSpPr/>
          <p:nvPr/>
        </p:nvSpPr>
        <p:spPr bwMode="auto">
          <a:xfrm>
            <a:off x="4794343" y="5179655"/>
            <a:ext cx="68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绩效管理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1DEFBF7-F37A-FA9A-4AFD-F1074333755B}"/>
              </a:ext>
            </a:extLst>
          </p:cNvPr>
          <p:cNvSpPr/>
          <p:nvPr/>
        </p:nvSpPr>
        <p:spPr bwMode="auto">
          <a:xfrm>
            <a:off x="5562206" y="4907380"/>
            <a:ext cx="68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薪酬管理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28B7765-9C11-38B9-0E2C-447B5C5001C4}"/>
              </a:ext>
            </a:extLst>
          </p:cNvPr>
          <p:cNvSpPr/>
          <p:nvPr/>
        </p:nvSpPr>
        <p:spPr bwMode="auto">
          <a:xfrm>
            <a:off x="5559939" y="5179655"/>
            <a:ext cx="68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考勤管理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A0D9AC8-2692-EA75-129C-4AFFE517A5B6}"/>
              </a:ext>
            </a:extLst>
          </p:cNvPr>
          <p:cNvSpPr/>
          <p:nvPr/>
        </p:nvSpPr>
        <p:spPr bwMode="auto">
          <a:xfrm>
            <a:off x="6330498" y="4907380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人事档案管理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4B7717C7-798B-9AA7-9D5B-0A424EF05647}"/>
              </a:ext>
            </a:extLst>
          </p:cNvPr>
          <p:cNvSpPr/>
          <p:nvPr/>
        </p:nvSpPr>
        <p:spPr bwMode="auto">
          <a:xfrm>
            <a:off x="6325535" y="5179655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培训管理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37002E3-34C3-1F4D-231C-C3E9653DEF92}"/>
              </a:ext>
            </a:extLst>
          </p:cNvPr>
          <p:cNvSpPr/>
          <p:nvPr/>
        </p:nvSpPr>
        <p:spPr bwMode="auto">
          <a:xfrm>
            <a:off x="8074712" y="4579620"/>
            <a:ext cx="675890" cy="851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审计管理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5576A0A-12BE-FFF8-D864-AB0AC35087E5}"/>
              </a:ext>
            </a:extLst>
          </p:cNvPr>
          <p:cNvSpPr/>
          <p:nvPr/>
        </p:nvSpPr>
        <p:spPr bwMode="auto">
          <a:xfrm>
            <a:off x="35793" y="4506288"/>
            <a:ext cx="9643665" cy="100413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>
            <a:outerShdw blurRad="63500" dist="38099" dir="2700000" algn="ctr" rotWithShape="0">
              <a:srgbClr val="FFFFFF">
                <a:alpha val="50000"/>
              </a:srgbClr>
            </a:outerShdw>
          </a:effectLst>
        </p:spPr>
        <p:txBody>
          <a:bodyPr vert="eaVert" wrap="none" rtlCol="0" anchor="b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Arial" panose="020B0604020202020204"/>
              </a:rPr>
              <a:t>综合管理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9930C56-5A81-A79A-4BE3-B48FE60809CE}"/>
              </a:ext>
            </a:extLst>
          </p:cNvPr>
          <p:cNvSpPr/>
          <p:nvPr/>
        </p:nvSpPr>
        <p:spPr bwMode="auto">
          <a:xfrm>
            <a:off x="8096732" y="4917748"/>
            <a:ext cx="632967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审计项目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1F6BE9-EA13-2D69-47A2-9E7029AD8858}"/>
              </a:ext>
            </a:extLst>
          </p:cNvPr>
          <p:cNvSpPr/>
          <p:nvPr/>
        </p:nvSpPr>
        <p:spPr bwMode="auto">
          <a:xfrm>
            <a:off x="8094721" y="5194015"/>
            <a:ext cx="63497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审计管控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7C30E22-B62F-35C2-27BE-71DD0F3E8F75}"/>
              </a:ext>
            </a:extLst>
          </p:cNvPr>
          <p:cNvSpPr/>
          <p:nvPr/>
        </p:nvSpPr>
        <p:spPr bwMode="auto">
          <a:xfrm>
            <a:off x="2150495" y="4907250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问卷调查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37B5C33-5F21-0A22-AEB2-BDDDD5A86F23}"/>
              </a:ext>
            </a:extLst>
          </p:cNvPr>
          <p:cNvSpPr/>
          <p:nvPr/>
        </p:nvSpPr>
        <p:spPr bwMode="auto">
          <a:xfrm>
            <a:off x="1318055" y="4907250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公共服务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A8BE4CE-5B66-EC1E-D8E4-599C76FD2979}"/>
              </a:ext>
            </a:extLst>
          </p:cNvPr>
          <p:cNvSpPr/>
          <p:nvPr/>
        </p:nvSpPr>
        <p:spPr bwMode="auto">
          <a:xfrm>
            <a:off x="1318055" y="5168514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信息发布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947A5139-E2F9-6AE6-E128-7D2059F52E5D}"/>
              </a:ext>
            </a:extLst>
          </p:cNvPr>
          <p:cNvSpPr/>
          <p:nvPr/>
        </p:nvSpPr>
        <p:spPr bwMode="auto">
          <a:xfrm>
            <a:off x="485615" y="4907250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审批中心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BFC22EA-967E-74AB-E5D9-70303C2255FD}"/>
              </a:ext>
            </a:extLst>
          </p:cNvPr>
          <p:cNvSpPr/>
          <p:nvPr/>
        </p:nvSpPr>
        <p:spPr bwMode="auto">
          <a:xfrm>
            <a:off x="485615" y="5168514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信息检索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2BF8838-66CA-64D3-7C5E-762FC2FA38B3}"/>
              </a:ext>
            </a:extLst>
          </p:cNvPr>
          <p:cNvSpPr/>
          <p:nvPr/>
        </p:nvSpPr>
        <p:spPr bwMode="auto">
          <a:xfrm>
            <a:off x="2150495" y="5168514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信息聚焦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E85D1893-A199-35A9-44FA-66B0D7290832}"/>
              </a:ext>
            </a:extLst>
          </p:cNvPr>
          <p:cNvSpPr/>
          <p:nvPr/>
        </p:nvSpPr>
        <p:spPr bwMode="auto">
          <a:xfrm>
            <a:off x="1314582" y="3748646"/>
            <a:ext cx="3500126" cy="514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金融核心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1EB6AC99-615E-2FBF-6721-5B177AD5CC60}"/>
              </a:ext>
            </a:extLst>
          </p:cNvPr>
          <p:cNvSpPr/>
          <p:nvPr/>
        </p:nvSpPr>
        <p:spPr bwMode="auto">
          <a:xfrm>
            <a:off x="3854614" y="3991215"/>
            <a:ext cx="864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借据管理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C599EF1-6917-7CCB-B537-148D3AA6E67A}"/>
              </a:ext>
            </a:extLst>
          </p:cNvPr>
          <p:cNvSpPr/>
          <p:nvPr/>
        </p:nvSpPr>
        <p:spPr bwMode="auto">
          <a:xfrm>
            <a:off x="3032154" y="3991215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资金交易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6C2A04A-3395-4207-4118-079C8C62A928}"/>
              </a:ext>
            </a:extLst>
          </p:cNvPr>
          <p:cNvSpPr/>
          <p:nvPr/>
        </p:nvSpPr>
        <p:spPr bwMode="auto">
          <a:xfrm>
            <a:off x="2199714" y="3991215"/>
            <a:ext cx="738400" cy="19044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融资测算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73A6A8C-7458-464A-881C-9B51F62BE92E}"/>
              </a:ext>
            </a:extLst>
          </p:cNvPr>
          <p:cNvSpPr/>
          <p:nvPr/>
        </p:nvSpPr>
        <p:spPr bwMode="auto">
          <a:xfrm>
            <a:off x="1367274" y="3991215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额度管理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0E7D365-67D2-8F5A-60D4-D58F04B8C06F}"/>
              </a:ext>
            </a:extLst>
          </p:cNvPr>
          <p:cNvSpPr/>
          <p:nvPr/>
        </p:nvSpPr>
        <p:spPr bwMode="auto">
          <a:xfrm>
            <a:off x="6640457" y="3109408"/>
            <a:ext cx="1111332" cy="5361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产品中心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A0A7843-1E0B-45AF-4165-F694C4767E9E}"/>
              </a:ext>
            </a:extLst>
          </p:cNvPr>
          <p:cNvSpPr/>
          <p:nvPr/>
        </p:nvSpPr>
        <p:spPr bwMode="auto">
          <a:xfrm>
            <a:off x="6899067" y="3385905"/>
            <a:ext cx="63497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产品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管理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65F88D9-0984-7A06-6792-8579CB4389C9}"/>
              </a:ext>
            </a:extLst>
          </p:cNvPr>
          <p:cNvSpPr txBox="1"/>
          <p:nvPr/>
        </p:nvSpPr>
        <p:spPr>
          <a:xfrm>
            <a:off x="3995541" y="522061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9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25A1A94-FCBE-CA85-EC56-E5C8D632D03F}"/>
              </a:ext>
            </a:extLst>
          </p:cNvPr>
          <p:cNvSpPr/>
          <p:nvPr/>
        </p:nvSpPr>
        <p:spPr bwMode="auto">
          <a:xfrm>
            <a:off x="8807964" y="4568865"/>
            <a:ext cx="753084" cy="851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900" b="1" kern="0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统一通信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9ED65BD-4616-94D7-5072-A8A53768CA22}"/>
              </a:ext>
            </a:extLst>
          </p:cNvPr>
          <p:cNvSpPr/>
          <p:nvPr/>
        </p:nvSpPr>
        <p:spPr bwMode="auto">
          <a:xfrm>
            <a:off x="8881870" y="4904798"/>
            <a:ext cx="632967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视频会议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3719549-B443-3BE7-3C58-02F23C416F09}"/>
              </a:ext>
            </a:extLst>
          </p:cNvPr>
          <p:cNvSpPr/>
          <p:nvPr/>
        </p:nvSpPr>
        <p:spPr bwMode="auto">
          <a:xfrm>
            <a:off x="8870719" y="5186775"/>
            <a:ext cx="632967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即使通讯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45EDF65-7F66-1AFD-DFAC-C2EF8C9D9B82}"/>
              </a:ext>
            </a:extLst>
          </p:cNvPr>
          <p:cNvSpPr/>
          <p:nvPr/>
        </p:nvSpPr>
        <p:spPr bwMode="auto">
          <a:xfrm>
            <a:off x="10931368" y="562701"/>
            <a:ext cx="1056418" cy="1278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资产管理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D9246AA-ED61-C6C8-FFEA-A5AA6208CFCE}"/>
              </a:ext>
            </a:extLst>
          </p:cNvPr>
          <p:cNvSpPr/>
          <p:nvPr/>
        </p:nvSpPr>
        <p:spPr bwMode="auto">
          <a:xfrm>
            <a:off x="10984040" y="847656"/>
            <a:ext cx="911257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资产五级分类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235F3BC-5E02-77C5-F1F3-9D67B62F467C}"/>
              </a:ext>
            </a:extLst>
          </p:cNvPr>
          <p:cNvSpPr/>
          <p:nvPr/>
        </p:nvSpPr>
        <p:spPr bwMode="auto">
          <a:xfrm>
            <a:off x="11020490" y="1369999"/>
            <a:ext cx="838356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资产流转管理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CD47B303-5DE4-7252-21A7-82DCFD99BC23}"/>
              </a:ext>
            </a:extLst>
          </p:cNvPr>
          <p:cNvSpPr/>
          <p:nvPr/>
        </p:nvSpPr>
        <p:spPr bwMode="auto">
          <a:xfrm>
            <a:off x="11020474" y="1103171"/>
            <a:ext cx="858120" cy="209439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资产处置管理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8DFA8EE-68E0-E61F-24C5-E6C6DA1AAE18}"/>
              </a:ext>
            </a:extLst>
          </p:cNvPr>
          <p:cNvSpPr/>
          <p:nvPr/>
        </p:nvSpPr>
        <p:spPr bwMode="auto">
          <a:xfrm>
            <a:off x="11037769" y="1600269"/>
            <a:ext cx="838356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资产估值管理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4B48FBC-54E1-745B-911C-4318069A4925}"/>
              </a:ext>
            </a:extLst>
          </p:cNvPr>
          <p:cNvSpPr/>
          <p:nvPr/>
        </p:nvSpPr>
        <p:spPr bwMode="auto">
          <a:xfrm>
            <a:off x="9775467" y="322902"/>
            <a:ext cx="2286193" cy="1638361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dist="38099" dir="2700000" algn="ctr" rotWithShape="0">
              <a:srgbClr val="FFFF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Arial" panose="020B0604020202020204"/>
              </a:rPr>
              <a:t>风险管理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3C18A65-BD86-F7B5-7A6C-A510813A109F}"/>
              </a:ext>
            </a:extLst>
          </p:cNvPr>
          <p:cNvSpPr/>
          <p:nvPr/>
        </p:nvSpPr>
        <p:spPr bwMode="auto">
          <a:xfrm>
            <a:off x="9873389" y="555255"/>
            <a:ext cx="1013114" cy="12752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授信管理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EDF22A6F-7BDF-6222-D173-E58C13F18958}"/>
              </a:ext>
            </a:extLst>
          </p:cNvPr>
          <p:cNvSpPr/>
          <p:nvPr/>
        </p:nvSpPr>
        <p:spPr bwMode="auto">
          <a:xfrm>
            <a:off x="9966728" y="820362"/>
            <a:ext cx="816408" cy="16830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联合授信管理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0DD916B-178C-78A0-D567-671DF95A52F9}"/>
              </a:ext>
            </a:extLst>
          </p:cNvPr>
          <p:cNvSpPr/>
          <p:nvPr/>
        </p:nvSpPr>
        <p:spPr bwMode="auto">
          <a:xfrm>
            <a:off x="9966728" y="1556917"/>
            <a:ext cx="850677" cy="16452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风险敞口管理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5E01DA84-8BE8-4B39-72D2-A5A810E35A52}"/>
              </a:ext>
            </a:extLst>
          </p:cNvPr>
          <p:cNvSpPr/>
          <p:nvPr/>
        </p:nvSpPr>
        <p:spPr bwMode="auto">
          <a:xfrm>
            <a:off x="9955453" y="1303503"/>
            <a:ext cx="825547" cy="16830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担保管理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A00C4B4-E647-595D-6FF2-8E7D4CE5BA8C}"/>
              </a:ext>
            </a:extLst>
          </p:cNvPr>
          <p:cNvSpPr/>
          <p:nvPr/>
        </p:nvSpPr>
        <p:spPr bwMode="auto">
          <a:xfrm>
            <a:off x="9964592" y="1056086"/>
            <a:ext cx="816408" cy="164527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集中度管理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77AD30CD-38E0-5164-1F5A-7A2CD559487D}"/>
              </a:ext>
            </a:extLst>
          </p:cNvPr>
          <p:cNvGrpSpPr/>
          <p:nvPr/>
        </p:nvGrpSpPr>
        <p:grpSpPr>
          <a:xfrm>
            <a:off x="8498287" y="2960370"/>
            <a:ext cx="1056418" cy="1278873"/>
            <a:chOff x="3538175" y="2738209"/>
            <a:chExt cx="1043368" cy="127887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7472D2B5-B08F-1F19-7FA9-3B319602C073}"/>
                </a:ext>
              </a:extLst>
            </p:cNvPr>
            <p:cNvSpPr/>
            <p:nvPr/>
          </p:nvSpPr>
          <p:spPr bwMode="auto">
            <a:xfrm>
              <a:off x="3538175" y="2738209"/>
              <a:ext cx="1043368" cy="127887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0000">
                  <a:lumMod val="50000"/>
                  <a:lumOff val="50000"/>
                </a:srgbClr>
              </a:solidFill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buNone/>
                <a:defRPr/>
              </a:pPr>
              <a:r>
                <a:rPr lang="en-US" altLang="zh-CN" sz="900" b="1" kern="0" dirty="0">
                  <a:solidFill>
                    <a:prstClr val="black"/>
                  </a:solidFill>
                  <a:latin typeface="FangSong" panose="02010609060101010101" pitchFamily="49" charset="-122"/>
                  <a:ea typeface="FangSong" panose="02010609060101010101" pitchFamily="49" charset="-122"/>
                  <a:cs typeface="+mn-ea"/>
                  <a:sym typeface="+mn-lt"/>
                </a:rPr>
                <a:t>ABS</a:t>
              </a:r>
              <a:r>
                <a:rPr lang="zh-CN" altLang="en-US" sz="900" b="1" kern="0" dirty="0">
                  <a:solidFill>
                    <a:prstClr val="black"/>
                  </a:solidFill>
                  <a:latin typeface="FangSong" panose="02010609060101010101" pitchFamily="49" charset="-122"/>
                  <a:ea typeface="FangSong" panose="02010609060101010101" pitchFamily="49" charset="-122"/>
                  <a:cs typeface="+mn-ea"/>
                  <a:sym typeface="+mn-lt"/>
                </a:rPr>
                <a:t>管理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3379DEA7-36FA-1FAA-F4AC-ADBAD4C96441}"/>
                </a:ext>
              </a:extLst>
            </p:cNvPr>
            <p:cNvSpPr/>
            <p:nvPr/>
          </p:nvSpPr>
          <p:spPr bwMode="auto">
            <a:xfrm>
              <a:off x="3626196" y="3023163"/>
              <a:ext cx="864001" cy="194211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rgbClr val="00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5720" rIns="4572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CDFD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angSong" panose="02010609060101010101" pitchFamily="49" charset="-122"/>
                  <a:ea typeface="FangSong" panose="02010609060101010101" pitchFamily="49" charset="-122"/>
                  <a:cs typeface="+mn-ea"/>
                  <a:sym typeface="+mn-lt"/>
                </a:rPr>
                <a:t>产品信息管理</a:t>
              </a: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85687CC5-6A39-02D1-F722-0B00210E4FAE}"/>
                </a:ext>
              </a:extLst>
            </p:cNvPr>
            <p:cNvSpPr/>
            <p:nvPr/>
          </p:nvSpPr>
          <p:spPr bwMode="auto">
            <a:xfrm>
              <a:off x="3626196" y="3545507"/>
              <a:ext cx="828000" cy="1800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rgbClr val="00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5720" rIns="4572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CDFD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angSong" panose="02010609060101010101" pitchFamily="49" charset="-122"/>
                  <a:ea typeface="FangSong" panose="02010609060101010101" pitchFamily="49" charset="-122"/>
                  <a:cs typeface="+mn-ea"/>
                  <a:sym typeface="+mn-lt"/>
                </a:rPr>
                <a:t>现金流归集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0E6DFAE4-C778-9C0A-C518-9D4F50104C86}"/>
                </a:ext>
              </a:extLst>
            </p:cNvPr>
            <p:cNvSpPr/>
            <p:nvPr/>
          </p:nvSpPr>
          <p:spPr bwMode="auto">
            <a:xfrm>
              <a:off x="3643261" y="3278680"/>
              <a:ext cx="830438" cy="1800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rgbClr val="00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5720" rIns="4572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CDFD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angSong" panose="02010609060101010101" pitchFamily="49" charset="-122"/>
                  <a:ea typeface="FangSong" panose="02010609060101010101" pitchFamily="49" charset="-122"/>
                  <a:cs typeface="+mn-ea"/>
                  <a:sym typeface="+mn-lt"/>
                </a:rPr>
                <a:t>资产标记</a:t>
              </a: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D8D349D9-A098-9C56-B7BC-7C266A1820EB}"/>
                </a:ext>
              </a:extLst>
            </p:cNvPr>
            <p:cNvSpPr/>
            <p:nvPr/>
          </p:nvSpPr>
          <p:spPr bwMode="auto">
            <a:xfrm>
              <a:off x="3643262" y="3775777"/>
              <a:ext cx="828000" cy="1800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rgbClr val="00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5720" rIns="4572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CDFD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angSong" panose="02010609060101010101" pitchFamily="49" charset="-122"/>
                  <a:ea typeface="FangSong" panose="02010609060101010101" pitchFamily="49" charset="-122"/>
                  <a:cs typeface="+mn-ea"/>
                  <a:sym typeface="+mn-lt"/>
                </a:rPr>
                <a:t>资产服务报告</a:t>
              </a:r>
            </a:p>
          </p:txBody>
        </p:sp>
      </p:grpSp>
      <p:sp>
        <p:nvSpPr>
          <p:cNvPr id="139" name="L 形 138">
            <a:extLst>
              <a:ext uri="{FF2B5EF4-FFF2-40B4-BE49-F238E27FC236}">
                <a16:creationId xmlns:a16="http://schemas.microsoft.com/office/drawing/2014/main" id="{DA7072C7-4134-698C-6EF6-FAC5C46DA5A6}"/>
              </a:ext>
            </a:extLst>
          </p:cNvPr>
          <p:cNvSpPr/>
          <p:nvPr/>
        </p:nvSpPr>
        <p:spPr bwMode="auto">
          <a:xfrm rot="10800000">
            <a:off x="4180271" y="302070"/>
            <a:ext cx="5459639" cy="4057622"/>
          </a:xfrm>
          <a:prstGeom prst="corner">
            <a:avLst>
              <a:gd name="adj1" fmla="val 62885"/>
              <a:gd name="adj2" fmla="val 39353"/>
            </a:avLst>
          </a:prstGeom>
          <a:noFill/>
          <a:ln w="12700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dist="38099" dir="2700000" algn="ctr" rotWithShape="0">
              <a:srgbClr val="FFFFFF">
                <a:alpha val="50000"/>
              </a:srgb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Arial" panose="020B0604020202020204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5DBC61A4-DF32-304C-C7F5-39A2ACD654AB}"/>
              </a:ext>
            </a:extLst>
          </p:cNvPr>
          <p:cNvSpPr txBox="1"/>
          <p:nvPr/>
        </p:nvSpPr>
        <p:spPr>
          <a:xfrm>
            <a:off x="8156216" y="2885834"/>
            <a:ext cx="323165" cy="157586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Arial" panose="020B0604020202020204"/>
              </a:rPr>
              <a:t>财资管理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E6BD7E7-9232-8DB9-2DE9-C1FCA5090BDB}"/>
              </a:ext>
            </a:extLst>
          </p:cNvPr>
          <p:cNvSpPr/>
          <p:nvPr/>
        </p:nvSpPr>
        <p:spPr bwMode="auto">
          <a:xfrm>
            <a:off x="35793" y="302072"/>
            <a:ext cx="778784" cy="4057620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dist="38099" dir="2700000" algn="ctr" rotWithShape="0">
              <a:srgbClr val="FFFF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Arial" panose="020B0604020202020204"/>
              </a:rPr>
              <a:t>对外服务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D1E7CBC-E428-9F6F-1987-82FBF8FE966B}"/>
              </a:ext>
            </a:extLst>
          </p:cNvPr>
          <p:cNvSpPr/>
          <p:nvPr/>
        </p:nvSpPr>
        <p:spPr bwMode="auto">
          <a:xfrm>
            <a:off x="1372321" y="681785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立项管理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1202B3CB-82B6-5059-5AD1-EC1C5FC566C4}"/>
              </a:ext>
            </a:extLst>
          </p:cNvPr>
          <p:cNvSpPr/>
          <p:nvPr/>
        </p:nvSpPr>
        <p:spPr bwMode="auto">
          <a:xfrm>
            <a:off x="1372321" y="950343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项目审核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93CC49E2-EC05-2568-B457-54483EB9F9FC}"/>
              </a:ext>
            </a:extLst>
          </p:cNvPr>
          <p:cNvSpPr/>
          <p:nvPr/>
        </p:nvSpPr>
        <p:spPr bwMode="auto">
          <a:xfrm>
            <a:off x="1306240" y="2133496"/>
            <a:ext cx="2530714" cy="5593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征信管理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405A9F3-B782-2E3B-4AD8-FDF5982F93BC}"/>
              </a:ext>
            </a:extLst>
          </p:cNvPr>
          <p:cNvSpPr/>
          <p:nvPr/>
        </p:nvSpPr>
        <p:spPr bwMode="auto">
          <a:xfrm>
            <a:off x="2192122" y="2386297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征信上报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1CA2A3F-5A8D-17E8-61CD-D96E36FA8D24}"/>
              </a:ext>
            </a:extLst>
          </p:cNvPr>
          <p:cNvSpPr/>
          <p:nvPr/>
        </p:nvSpPr>
        <p:spPr bwMode="auto">
          <a:xfrm>
            <a:off x="3023812" y="2387937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征信查询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29C0156-E6EC-D2A5-FE25-A724AF90F75E}"/>
              </a:ext>
            </a:extLst>
          </p:cNvPr>
          <p:cNvSpPr/>
          <p:nvPr/>
        </p:nvSpPr>
        <p:spPr bwMode="auto">
          <a:xfrm>
            <a:off x="1358754" y="2378511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数据审核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CE9B7CF3-28B4-8441-3E66-0BCA022FB435}"/>
              </a:ext>
            </a:extLst>
          </p:cNvPr>
          <p:cNvSpPr/>
          <p:nvPr/>
        </p:nvSpPr>
        <p:spPr bwMode="auto">
          <a:xfrm>
            <a:off x="2199714" y="702270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合同管理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B542856-2A9D-8E46-6C31-FDB6944FE48F}"/>
              </a:ext>
            </a:extLst>
          </p:cNvPr>
          <p:cNvSpPr/>
          <p:nvPr/>
        </p:nvSpPr>
        <p:spPr bwMode="auto">
          <a:xfrm>
            <a:off x="2206946" y="1223124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租赁物管理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1182873-1504-4796-6FC3-2FFDA98EE7DE}"/>
              </a:ext>
            </a:extLst>
          </p:cNvPr>
          <p:cNvSpPr/>
          <p:nvPr/>
        </p:nvSpPr>
        <p:spPr bwMode="auto">
          <a:xfrm>
            <a:off x="3013053" y="700705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租后检查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2C80D14D-7A00-D752-597B-0FA0B5C5D3DA}"/>
              </a:ext>
            </a:extLst>
          </p:cNvPr>
          <p:cNvSpPr/>
          <p:nvPr/>
        </p:nvSpPr>
        <p:spPr bwMode="auto">
          <a:xfrm>
            <a:off x="3023812" y="959435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变更管理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FB67DCE6-D4F8-17EF-2F14-4AEC05979F83}"/>
              </a:ext>
            </a:extLst>
          </p:cNvPr>
          <p:cNvSpPr/>
          <p:nvPr/>
        </p:nvSpPr>
        <p:spPr bwMode="auto">
          <a:xfrm>
            <a:off x="2211152" y="952754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起租管理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E0C3236D-CB14-D7D0-9561-34C70759B01F}"/>
              </a:ext>
            </a:extLst>
          </p:cNvPr>
          <p:cNvSpPr/>
          <p:nvPr/>
        </p:nvSpPr>
        <p:spPr bwMode="auto">
          <a:xfrm>
            <a:off x="3013053" y="1220613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合同结束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5EAE144C-D8CC-5747-FCF1-18B08F0446A5}"/>
              </a:ext>
            </a:extLst>
          </p:cNvPr>
          <p:cNvSpPr/>
          <p:nvPr/>
        </p:nvSpPr>
        <p:spPr bwMode="auto">
          <a:xfrm>
            <a:off x="1379757" y="1233435"/>
            <a:ext cx="7200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增信措施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F5F36BA7-E10B-B035-92C3-23FB8E242A2D}"/>
              </a:ext>
            </a:extLst>
          </p:cNvPr>
          <p:cNvSpPr txBox="1"/>
          <p:nvPr/>
        </p:nvSpPr>
        <p:spPr>
          <a:xfrm>
            <a:off x="928826" y="1219859"/>
            <a:ext cx="323165" cy="56041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Arial" panose="020B0604020202020204"/>
              </a:rPr>
              <a:t>业务管理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49D8D9-ACED-1BF4-682E-D05618CD0BD2}"/>
              </a:ext>
            </a:extLst>
          </p:cNvPr>
          <p:cNvSpPr/>
          <p:nvPr/>
        </p:nvSpPr>
        <p:spPr bwMode="auto">
          <a:xfrm>
            <a:off x="778030" y="5962180"/>
            <a:ext cx="653377" cy="1499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ysClr val="window" lastClr="FFFFFF">
                <a:lumMod val="75000"/>
                <a:alpha val="7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Calibri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880C19B7-37FA-523F-4F1D-1B252BC6F1DE}"/>
              </a:ext>
            </a:extLst>
          </p:cNvPr>
          <p:cNvSpPr txBox="1"/>
          <p:nvPr/>
        </p:nvSpPr>
        <p:spPr>
          <a:xfrm>
            <a:off x="944681" y="562259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图例说明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F9B7597-230B-34D8-E6AE-13454BFEB042}"/>
              </a:ext>
            </a:extLst>
          </p:cNvPr>
          <p:cNvSpPr txBox="1"/>
          <p:nvPr/>
        </p:nvSpPr>
        <p:spPr>
          <a:xfrm>
            <a:off x="1512065" y="5912358"/>
            <a:ext cx="6571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租赁公司自建系统。通常来说属于租赁公司的核心子域，或者支撑子域中集团未建成的部分。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49A681C8-C573-D3DE-F361-11B09812F3D8}"/>
              </a:ext>
            </a:extLst>
          </p:cNvPr>
          <p:cNvSpPr/>
          <p:nvPr/>
        </p:nvSpPr>
        <p:spPr bwMode="auto">
          <a:xfrm>
            <a:off x="787767" y="6244987"/>
            <a:ext cx="653377" cy="1499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ysClr val="window" lastClr="FFFFFF">
                <a:lumMod val="75000"/>
                <a:alpha val="7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Calibri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D596C310-C6CE-140A-C12D-E3589771AF1C}"/>
              </a:ext>
            </a:extLst>
          </p:cNvPr>
          <p:cNvSpPr txBox="1"/>
          <p:nvPr/>
        </p:nvSpPr>
        <p:spPr>
          <a:xfrm>
            <a:off x="1508391" y="6202126"/>
            <a:ext cx="10726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租赁公司依托集团相应已有服务改造建成的系统，此类系统会复用集团的一些能力，并结合自身改造。通常属于租赁公司支撑子域中集团已建成的部分。</a:t>
            </a:r>
          </a:p>
        </p:txBody>
      </p:sp>
      <p:sp>
        <p:nvSpPr>
          <p:cNvPr id="162" name="圆角矩形 161">
            <a:extLst>
              <a:ext uri="{FF2B5EF4-FFF2-40B4-BE49-F238E27FC236}">
                <a16:creationId xmlns:a16="http://schemas.microsoft.com/office/drawing/2014/main" id="{9EE36F47-744E-A3AA-6B63-5F4D2A6E9B91}"/>
              </a:ext>
            </a:extLst>
          </p:cNvPr>
          <p:cNvSpPr/>
          <p:nvPr/>
        </p:nvSpPr>
        <p:spPr>
          <a:xfrm>
            <a:off x="723142" y="5687904"/>
            <a:ext cx="11172155" cy="10857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kumimoji="1" lang="zh-CN" altLang="en-US" sz="1200" dirty="0">
              <a:solidFill>
                <a:schemeClr val="accent5">
                  <a:lumMod val="75000"/>
                </a:schemeClr>
              </a:solidFill>
              <a:latin typeface="FangSong" panose="02010609060101010101" pitchFamily="49" charset="-122"/>
              <a:ea typeface="FangSong" panose="02010609060101010101" pitchFamily="49" charset="-122"/>
              <a:cs typeface="Calibri" charset="0"/>
              <a:sym typeface="Segoe UI Light" panose="020B0502040204020203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C2B2FD1-3D35-DE54-2760-120F99C1C371}"/>
              </a:ext>
            </a:extLst>
          </p:cNvPr>
          <p:cNvSpPr/>
          <p:nvPr/>
        </p:nvSpPr>
        <p:spPr bwMode="auto">
          <a:xfrm>
            <a:off x="790833" y="6525879"/>
            <a:ext cx="653377" cy="1499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ysClr val="window" lastClr="FFFFFF">
                <a:lumMod val="75000"/>
                <a:alpha val="7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Calibri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7246394E-E44A-DD0E-A8B0-0B1CD78D992A}"/>
              </a:ext>
            </a:extLst>
          </p:cNvPr>
          <p:cNvSpPr txBox="1"/>
          <p:nvPr/>
        </p:nvSpPr>
        <p:spPr>
          <a:xfrm>
            <a:off x="1504769" y="6485994"/>
            <a:ext cx="5262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FangSong" panose="02010609060101010101" pitchFamily="49" charset="-122"/>
                <a:ea typeface="FangSong" panose="02010609060101010101" pitchFamily="49" charset="-122"/>
              </a:rPr>
              <a:t>租赁公司完全复用集团件能的系统。通常属于租赁公司通用子域的部分。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3E515338-34AA-AAED-A3AF-02BEE201BC3A}"/>
              </a:ext>
            </a:extLst>
          </p:cNvPr>
          <p:cNvSpPr/>
          <p:nvPr/>
        </p:nvSpPr>
        <p:spPr bwMode="auto">
          <a:xfrm>
            <a:off x="9938630" y="2734128"/>
            <a:ext cx="84237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noProof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数据服务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BA1E5E88-399F-0E53-A053-265569EE4901}"/>
              </a:ext>
            </a:extLst>
          </p:cNvPr>
          <p:cNvSpPr/>
          <p:nvPr/>
        </p:nvSpPr>
        <p:spPr bwMode="auto">
          <a:xfrm>
            <a:off x="9938630" y="2988879"/>
            <a:ext cx="84237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noProof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数据协作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00DC3F41-774D-F161-1C24-1CB41A1B94AF}"/>
              </a:ext>
            </a:extLst>
          </p:cNvPr>
          <p:cNvSpPr/>
          <p:nvPr/>
        </p:nvSpPr>
        <p:spPr bwMode="auto">
          <a:xfrm>
            <a:off x="9954000" y="3252429"/>
            <a:ext cx="84237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noProof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数据资产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CE182CEA-3CC5-4AF3-AD8D-B1C926D5DF64}"/>
              </a:ext>
            </a:extLst>
          </p:cNvPr>
          <p:cNvSpPr/>
          <p:nvPr/>
        </p:nvSpPr>
        <p:spPr bwMode="auto">
          <a:xfrm>
            <a:off x="9945658" y="3507180"/>
            <a:ext cx="84237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900" kern="0" noProof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数据调度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70" name="流程图: 磁盘 320">
            <a:extLst>
              <a:ext uri="{FF2B5EF4-FFF2-40B4-BE49-F238E27FC236}">
                <a16:creationId xmlns:a16="http://schemas.microsoft.com/office/drawing/2014/main" id="{633E6EF9-C2D5-7B10-F25A-4624B18B52D0}"/>
              </a:ext>
            </a:extLst>
          </p:cNvPr>
          <p:cNvSpPr/>
          <p:nvPr/>
        </p:nvSpPr>
        <p:spPr bwMode="auto">
          <a:xfrm>
            <a:off x="10828527" y="2991798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租赁合同数据</a:t>
            </a:r>
          </a:p>
        </p:txBody>
      </p:sp>
      <p:sp>
        <p:nvSpPr>
          <p:cNvPr id="171" name="流程图: 磁盘 320">
            <a:extLst>
              <a:ext uri="{FF2B5EF4-FFF2-40B4-BE49-F238E27FC236}">
                <a16:creationId xmlns:a16="http://schemas.microsoft.com/office/drawing/2014/main" id="{F556AB30-0F9C-5C56-FF74-8003EBC10FA3}"/>
              </a:ext>
            </a:extLst>
          </p:cNvPr>
          <p:cNvSpPr/>
          <p:nvPr/>
        </p:nvSpPr>
        <p:spPr bwMode="auto">
          <a:xfrm>
            <a:off x="11445258" y="3008358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设备数据</a:t>
            </a:r>
          </a:p>
        </p:txBody>
      </p:sp>
      <p:sp>
        <p:nvSpPr>
          <p:cNvPr id="172" name="流程图: 磁盘 320">
            <a:extLst>
              <a:ext uri="{FF2B5EF4-FFF2-40B4-BE49-F238E27FC236}">
                <a16:creationId xmlns:a16="http://schemas.microsoft.com/office/drawing/2014/main" id="{F6331635-899B-7FB2-E068-D8021C08192A}"/>
              </a:ext>
            </a:extLst>
          </p:cNvPr>
          <p:cNvSpPr/>
          <p:nvPr/>
        </p:nvSpPr>
        <p:spPr bwMode="auto">
          <a:xfrm>
            <a:off x="11438325" y="2752880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应收账款数据</a:t>
            </a:r>
          </a:p>
        </p:txBody>
      </p:sp>
      <p:sp>
        <p:nvSpPr>
          <p:cNvPr id="173" name="流程图: 磁盘 320">
            <a:extLst>
              <a:ext uri="{FF2B5EF4-FFF2-40B4-BE49-F238E27FC236}">
                <a16:creationId xmlns:a16="http://schemas.microsoft.com/office/drawing/2014/main" id="{22CA8EE9-10FA-2717-E24F-EE148633088D}"/>
              </a:ext>
            </a:extLst>
          </p:cNvPr>
          <p:cNvSpPr/>
          <p:nvPr/>
        </p:nvSpPr>
        <p:spPr bwMode="auto">
          <a:xfrm>
            <a:off x="10853212" y="2739364"/>
            <a:ext cx="477343" cy="216000"/>
          </a:xfrm>
          <a:prstGeom prst="flowChartMagneticDisk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700" kern="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物流数据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E54704F-A371-7C1E-F065-1B55128F15B0}"/>
              </a:ext>
            </a:extLst>
          </p:cNvPr>
          <p:cNvSpPr/>
          <p:nvPr/>
        </p:nvSpPr>
        <p:spPr bwMode="auto">
          <a:xfrm>
            <a:off x="7323967" y="4572740"/>
            <a:ext cx="675890" cy="851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00">
                <a:lumMod val="50000"/>
                <a:lumOff val="50000"/>
              </a:srgbClr>
            </a:solidFill>
          </a:ln>
          <a:effectLst/>
        </p:spPr>
        <p:txBody>
          <a:bodyPr wrap="none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法务管理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99279C72-F89E-48A3-8471-DA5C220C6A7C}"/>
              </a:ext>
            </a:extLst>
          </p:cNvPr>
          <p:cNvSpPr/>
          <p:nvPr/>
        </p:nvSpPr>
        <p:spPr bwMode="auto">
          <a:xfrm>
            <a:off x="7345987" y="4910868"/>
            <a:ext cx="632967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合规管理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D164F0F7-88E0-62BA-3A91-253C04FBA2E6}"/>
              </a:ext>
            </a:extLst>
          </p:cNvPr>
          <p:cNvSpPr/>
          <p:nvPr/>
        </p:nvSpPr>
        <p:spPr bwMode="auto">
          <a:xfrm>
            <a:off x="7343976" y="5187135"/>
            <a:ext cx="634978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DFD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ea"/>
                <a:sym typeface="+mn-lt"/>
              </a:rPr>
              <a:t>法律服务</a:t>
            </a:r>
          </a:p>
        </p:txBody>
      </p:sp>
    </p:spTree>
    <p:extLst>
      <p:ext uri="{BB962C8B-B14F-4D97-AF65-F5344CB8AC3E}">
        <p14:creationId xmlns:p14="http://schemas.microsoft.com/office/powerpoint/2010/main" val="26461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4415</TotalTime>
  <Words>418</Words>
  <Application>Microsoft Macintosh PowerPoint</Application>
  <PresentationFormat>宽屏</PresentationFormat>
  <Paragraphs>152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FangSong</vt:lpstr>
      <vt:lpstr>Arial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Dorothy Julius</dc:creator>
  <cp:lastModifiedBy>mei hai</cp:lastModifiedBy>
  <cp:revision>1</cp:revision>
  <dcterms:created xsi:type="dcterms:W3CDTF">2023-09-22T02:05:45Z</dcterms:created>
  <dcterms:modified xsi:type="dcterms:W3CDTF">2025-03-06T07:09:29Z</dcterms:modified>
</cp:coreProperties>
</file>